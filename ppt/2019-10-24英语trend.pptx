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9" r:id="rId5"/>
    <p:sldId id="260" r:id="rId7"/>
    <p:sldId id="261" r:id="rId8"/>
    <p:sldId id="262" r:id="rId9"/>
    <p:sldId id="270" r:id="rId10"/>
    <p:sldId id="27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66" autoAdjust="0"/>
    <p:restoredTop sz="94660"/>
  </p:normalViewPr>
  <p:slideViewPr>
    <p:cSldViewPr snapToGrid="0">
      <p:cViewPr>
        <p:scale>
          <a:sx n="100" d="100"/>
          <a:sy n="100" d="100"/>
        </p:scale>
        <p:origin x="93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10F00-31CF-4F7F-A2E2-51A7FFB808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E6A81-C26F-4CE1-A10F-DC806BAAD4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432050" y="3462020"/>
            <a:ext cx="1410970" cy="275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75754" y="4463733"/>
            <a:ext cx="2640490" cy="471467"/>
            <a:chOff x="4858057" y="4776377"/>
            <a:chExt cx="3038297" cy="542496"/>
          </a:xfrm>
        </p:grpSpPr>
        <p:sp>
          <p:nvSpPr>
            <p:cNvPr id="17" name="箭头: 五边形 16"/>
            <p:cNvSpPr/>
            <p:nvPr/>
          </p:nvSpPr>
          <p:spPr>
            <a:xfrm>
              <a:off x="4858057" y="4785740"/>
              <a:ext cx="1285875" cy="533133"/>
            </a:xfrm>
            <a:prstGeom prst="homePlate">
              <a:avLst>
                <a:gd name="adj" fmla="val 37494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862441" y="4842868"/>
              <a:ext cx="1090886" cy="387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杨柳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5972937" y="4776377"/>
              <a:ext cx="1923417" cy="533133"/>
            </a:xfrm>
            <a:custGeom>
              <a:avLst/>
              <a:gdLst>
                <a:gd name="connsiteX0" fmla="*/ 83560 w 1923417"/>
                <a:gd name="connsiteY0" fmla="*/ 0 h 533133"/>
                <a:gd name="connsiteX1" fmla="*/ 1923417 w 1923417"/>
                <a:gd name="connsiteY1" fmla="*/ 0 h 533133"/>
                <a:gd name="connsiteX2" fmla="*/ 1923417 w 1923417"/>
                <a:gd name="connsiteY2" fmla="*/ 266567 h 533133"/>
                <a:gd name="connsiteX3" fmla="*/ 1923417 w 1923417"/>
                <a:gd name="connsiteY3" fmla="*/ 533133 h 533133"/>
                <a:gd name="connsiteX4" fmla="*/ 0 w 1923417"/>
                <a:gd name="connsiteY4" fmla="*/ 533133 h 533133"/>
                <a:gd name="connsiteX5" fmla="*/ 0 w 1923417"/>
                <a:gd name="connsiteY5" fmla="*/ 532970 h 533133"/>
                <a:gd name="connsiteX6" fmla="*/ 83438 w 1923417"/>
                <a:gd name="connsiteY6" fmla="*/ 532970 h 533133"/>
                <a:gd name="connsiteX7" fmla="*/ 283331 w 1923417"/>
                <a:gd name="connsiteY7" fmla="*/ 266404 h 533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3417" h="533133">
                  <a:moveTo>
                    <a:pt x="83560" y="0"/>
                  </a:moveTo>
                  <a:lnTo>
                    <a:pt x="1923417" y="0"/>
                  </a:lnTo>
                  <a:lnTo>
                    <a:pt x="1923417" y="266567"/>
                  </a:lnTo>
                  <a:lnTo>
                    <a:pt x="1923417" y="533133"/>
                  </a:lnTo>
                  <a:lnTo>
                    <a:pt x="0" y="533133"/>
                  </a:lnTo>
                  <a:lnTo>
                    <a:pt x="0" y="532970"/>
                  </a:lnTo>
                  <a:lnTo>
                    <a:pt x="83438" y="532970"/>
                  </a:lnTo>
                  <a:lnTo>
                    <a:pt x="283331" y="266404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239638" y="4851998"/>
              <a:ext cx="1615601" cy="387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2019.10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479925" y="1123315"/>
            <a:ext cx="3232150" cy="30460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中国</a:t>
            </a:r>
            <a:endParaRPr lang="zh-CN" altLang="en-US" sz="96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  <a:p>
            <a:r>
              <a:rPr lang="en-US" altLang="zh-CN" sz="9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trend</a:t>
            </a:r>
            <a:endParaRPr lang="en-US" altLang="zh-CN" sz="96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</p:spTree>
    <p:custDataLst>
      <p:tags r:id="rId2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857750" y="1732896"/>
            <a:ext cx="2514600" cy="53385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965065" y="1799590"/>
            <a:ext cx="2329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关于衣食住行中的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21935" y="3218815"/>
            <a:ext cx="15481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彩云" panose="02010800040101010101" charset="-122"/>
                <a:ea typeface="华文彩云" panose="02010800040101010101" charset="-122"/>
              </a:rPr>
              <a:t>行</a:t>
            </a:r>
            <a:endParaRPr lang="zh-CN" altLang="en-US" sz="9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彩云" panose="02010800040101010101" charset="-122"/>
              <a:ea typeface="华文彩云" panose="02010800040101010101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10160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The vehicle on which the emperor rode was often called the chariot.</a:t>
            </a:r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4872672" y="567868"/>
            <a:ext cx="2486025" cy="533856"/>
            <a:chOff x="5353049" y="1142543"/>
            <a:chExt cx="2486025" cy="533856"/>
          </a:xfrm>
        </p:grpSpPr>
        <p:sp>
          <p:nvSpPr>
            <p:cNvPr id="31" name="矩形 30"/>
            <p:cNvSpPr/>
            <p:nvPr/>
          </p:nvSpPr>
          <p:spPr>
            <a:xfrm>
              <a:off x="5353049" y="1142543"/>
              <a:ext cx="2486025" cy="53385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448301" y="1180582"/>
              <a:ext cx="22764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PART.01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871915" y="3261482"/>
            <a:ext cx="4448167" cy="1018847"/>
            <a:chOff x="2900379" y="2510999"/>
            <a:chExt cx="2119297" cy="1018847"/>
          </a:xfrm>
          <a:effectLst/>
        </p:grpSpPr>
        <p:sp>
          <p:nvSpPr>
            <p:cNvPr id="34" name="矩形 33"/>
            <p:cNvSpPr/>
            <p:nvPr/>
          </p:nvSpPr>
          <p:spPr>
            <a:xfrm>
              <a:off x="2900379" y="3223141"/>
              <a:ext cx="2109772" cy="3067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dist"/>
              <a:endParaRPr lang="zh-CN" altLang="en-US" sz="14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909904" y="2510999"/>
              <a:ext cx="2109772" cy="70675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dist"/>
              <a:endParaRPr lang="zh-CN" altLang="en-US" sz="4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 descr="c5f499cdc90f4640a71a9ac4bcaf20eb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35" y="64135"/>
            <a:ext cx="3455035" cy="3555365"/>
          </a:xfrm>
          <a:prstGeom prst="rect">
            <a:avLst/>
          </a:prstGeom>
        </p:spPr>
      </p:pic>
      <p:cxnSp>
        <p:nvCxnSpPr>
          <p:cNvPr id="3" name="肘形连接符 2"/>
          <p:cNvCxnSpPr/>
          <p:nvPr/>
        </p:nvCxnSpPr>
        <p:spPr>
          <a:xfrm>
            <a:off x="4130040" y="2979420"/>
            <a:ext cx="3481705" cy="1506855"/>
          </a:xfrm>
          <a:prstGeom prst="bentConnector3">
            <a:avLst>
              <a:gd name="adj1" fmla="val 50009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bad005da50e9431282152218505acff0[1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745" y="3261360"/>
            <a:ext cx="4494530" cy="30943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0535" y="4117975"/>
            <a:ext cx="36588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The vehicle on which the emperor rode was often called the chariot.</a:t>
            </a:r>
            <a:endParaRPr lang="zh-CN" altLang="en-US"/>
          </a:p>
          <a:p>
            <a:pPr algn="ctr"/>
            <a:r>
              <a:rPr lang="zh-CN" altLang="en-US"/>
              <a:t>帝王所乘坐的代步工具，通常称为"辇"。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161780" y="2400300"/>
            <a:ext cx="13944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The carriage</a:t>
            </a:r>
            <a:endParaRPr lang="zh-CN" altLang="en-US"/>
          </a:p>
          <a:p>
            <a:pPr algn="ctr"/>
            <a:r>
              <a:rPr lang="zh-CN" altLang="en-US"/>
              <a:t>马车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75960" y="1625600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8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古代</a:t>
            </a:r>
            <a:endParaRPr lang="zh-CN" altLang="en-US" sz="48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74295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逐渐出现的汽车开始与之争抢市场</a:t>
            </a:r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5033327" y="5566588"/>
            <a:ext cx="2486025" cy="533856"/>
            <a:chOff x="5353049" y="1142543"/>
            <a:chExt cx="2486025" cy="533856"/>
          </a:xfrm>
        </p:grpSpPr>
        <p:sp>
          <p:nvSpPr>
            <p:cNvPr id="31" name="矩形 30"/>
            <p:cNvSpPr/>
            <p:nvPr/>
          </p:nvSpPr>
          <p:spPr>
            <a:xfrm>
              <a:off x="5353049" y="1142543"/>
              <a:ext cx="2486025" cy="53385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448301" y="1180582"/>
              <a:ext cx="22764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PART.02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881440" y="3251957"/>
            <a:ext cx="4448167" cy="1018847"/>
            <a:chOff x="2900379" y="2510999"/>
            <a:chExt cx="2119297" cy="1018847"/>
          </a:xfrm>
          <a:effectLst/>
        </p:grpSpPr>
        <p:sp>
          <p:nvSpPr>
            <p:cNvPr id="34" name="矩形 33"/>
            <p:cNvSpPr/>
            <p:nvPr/>
          </p:nvSpPr>
          <p:spPr>
            <a:xfrm>
              <a:off x="2900379" y="3223141"/>
              <a:ext cx="2109772" cy="3067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dist"/>
              <a:endParaRPr lang="zh-CN" altLang="en-US" sz="14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909904" y="2510999"/>
              <a:ext cx="2109772" cy="70675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dist"/>
              <a:endParaRPr lang="zh-CN" altLang="en-US" sz="4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 descr="7c138c69746d48109363a167a00e579b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" y="269240"/>
            <a:ext cx="2860675" cy="2836545"/>
          </a:xfrm>
          <a:prstGeom prst="rect">
            <a:avLst/>
          </a:prstGeom>
        </p:spPr>
      </p:pic>
      <p:cxnSp>
        <p:nvCxnSpPr>
          <p:cNvPr id="3" name="曲线连接符 2"/>
          <p:cNvCxnSpPr>
            <a:stCxn id="2" idx="3"/>
          </p:cNvCxnSpPr>
          <p:nvPr/>
        </p:nvCxnSpPr>
        <p:spPr>
          <a:xfrm>
            <a:off x="3233420" y="1687830"/>
            <a:ext cx="1445895" cy="1441450"/>
          </a:xfrm>
          <a:prstGeom prst="curvedConnector3">
            <a:avLst>
              <a:gd name="adj1" fmla="val 50022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4295" y="3369945"/>
            <a:ext cx="35902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Late qing dynasty and early republic of China: rickshaws (rickshaws) and animal rickshaws were relatively common.</a:t>
            </a:r>
            <a:endParaRPr lang="zh-CN" altLang="en-US"/>
          </a:p>
          <a:p>
            <a:r>
              <a:rPr lang="en-US" altLang="zh-CN"/>
              <a:t>清末民初：比较普遍的人力车（黄包车）与畜力车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 descr="b9a63ab7c450475e95425c02fe481416[1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315" y="2910840"/>
            <a:ext cx="2937510" cy="20745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80610" y="1226185"/>
            <a:ext cx="25349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The emergence of cars began to compete with it in the market</a:t>
            </a:r>
            <a:r>
              <a:rPr lang="en-US" altLang="zh-CN"/>
              <a:t>.</a:t>
            </a:r>
            <a:endParaRPr lang="en-US" altLang="zh-CN"/>
          </a:p>
          <a:p>
            <a:r>
              <a:rPr lang="en-US" altLang="zh-CN"/>
              <a:t>逐渐出现的汽车开始与之争抢市场</a:t>
            </a:r>
            <a:r>
              <a:rPr lang="zh-CN" altLang="en-US"/>
              <a:t>。</a:t>
            </a:r>
            <a:endParaRPr lang="zh-CN" altLang="en-US"/>
          </a:p>
        </p:txBody>
      </p:sp>
      <p:cxnSp>
        <p:nvCxnSpPr>
          <p:cNvPr id="8" name="曲线连接符 7"/>
          <p:cNvCxnSpPr>
            <a:stCxn id="5" idx="3"/>
          </p:cNvCxnSpPr>
          <p:nvPr/>
        </p:nvCxnSpPr>
        <p:spPr>
          <a:xfrm flipV="1">
            <a:off x="7616825" y="2729865"/>
            <a:ext cx="2527935" cy="1218565"/>
          </a:xfrm>
          <a:prstGeom prst="curvedConnector3">
            <a:avLst>
              <a:gd name="adj1" fmla="val 50013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0d7037bfc24c4efea7e9cefd16c006f9[1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155" y="269240"/>
            <a:ext cx="3396615" cy="24561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246870" y="3251835"/>
            <a:ext cx="25349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China was often called the kingdom of bicycles</a:t>
            </a:r>
            <a:r>
              <a:rPr lang="en-US" altLang="zh-CN"/>
              <a:t>.</a:t>
            </a:r>
            <a:endParaRPr lang="en-US" altLang="zh-CN"/>
          </a:p>
          <a:p>
            <a:r>
              <a:rPr lang="en-US" altLang="zh-CN"/>
              <a:t>中国当年常被称为自行车王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097645" y="4815205"/>
            <a:ext cx="1554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54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近代</a:t>
            </a:r>
            <a:endParaRPr lang="zh-CN" altLang="en-US" sz="54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-89535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中国当年常被称为自行车王国</a:t>
            </a:r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3367" y="3740963"/>
            <a:ext cx="2486025" cy="533856"/>
            <a:chOff x="5353049" y="1142543"/>
            <a:chExt cx="2486025" cy="533856"/>
          </a:xfrm>
        </p:grpSpPr>
        <p:sp>
          <p:nvSpPr>
            <p:cNvPr id="31" name="矩形 30"/>
            <p:cNvSpPr/>
            <p:nvPr/>
          </p:nvSpPr>
          <p:spPr>
            <a:xfrm>
              <a:off x="5353049" y="1142543"/>
              <a:ext cx="2486025" cy="53385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448301" y="1180582"/>
              <a:ext cx="22764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PART.03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 descr="207d368e1afc4930aa5b091317d07946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5" y="231775"/>
            <a:ext cx="3298825" cy="25031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29405" y="1123950"/>
            <a:ext cx="31629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More and more tractors, cars, modified cars, minivans and so on.</a:t>
            </a:r>
            <a:endParaRPr lang="zh-CN" altLang="en-US"/>
          </a:p>
          <a:p>
            <a:r>
              <a:rPr lang="en-US" altLang="zh-CN"/>
              <a:t>拖拉机、小轿车、改装车、面包车等越来越多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 descr="e7791766450844f0a41395c55fbe9661[1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725" y="3740785"/>
            <a:ext cx="4469130" cy="2729230"/>
          </a:xfrm>
          <a:prstGeom prst="rect">
            <a:avLst/>
          </a:prstGeom>
        </p:spPr>
      </p:pic>
      <p:cxnSp>
        <p:nvCxnSpPr>
          <p:cNvPr id="6" name="曲线连接符 5"/>
          <p:cNvCxnSpPr>
            <a:endCxn id="5" idx="1"/>
          </p:cNvCxnSpPr>
          <p:nvPr/>
        </p:nvCxnSpPr>
        <p:spPr>
          <a:xfrm>
            <a:off x="3670935" y="2590165"/>
            <a:ext cx="3653790" cy="2515235"/>
          </a:xfrm>
          <a:prstGeom prst="curvedConnector3">
            <a:avLst>
              <a:gd name="adj1" fmla="val 500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68935" y="4735830"/>
            <a:ext cx="54470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In the mid and late 1980s, the carrying capacity of buses was mainly to increase the length of vehicles, and articulated cars became popular.</a:t>
            </a:r>
            <a:endParaRPr lang="zh-CN" altLang="en-US"/>
          </a:p>
          <a:p>
            <a:r>
              <a:rPr lang="zh-CN" altLang="en-US"/>
              <a:t>80 年代中后期，公交车的运载能力主要是增加车辆的长度，铰接车成为了一种流行。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132570" y="475615"/>
            <a:ext cx="901700" cy="17532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54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现代</a:t>
            </a:r>
            <a:endParaRPr lang="zh-CN" altLang="en-US" sz="54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到了如今，越来越多方便快捷的交通方式走进了我们的生活。</a:t>
            </a:r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4852987" y="2104568"/>
            <a:ext cx="2486025" cy="533856"/>
            <a:chOff x="5353049" y="1142543"/>
            <a:chExt cx="2486025" cy="533856"/>
          </a:xfrm>
        </p:grpSpPr>
        <p:sp>
          <p:nvSpPr>
            <p:cNvPr id="31" name="矩形 30"/>
            <p:cNvSpPr/>
            <p:nvPr/>
          </p:nvSpPr>
          <p:spPr>
            <a:xfrm>
              <a:off x="5353049" y="1142543"/>
              <a:ext cx="2486025" cy="53385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448301" y="1180582"/>
              <a:ext cx="22764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PART.04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 descr="73a6b381211e4600ac9e869ff263eb6c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90" y="241935"/>
            <a:ext cx="3565525" cy="26625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6125" y="3228975"/>
            <a:ext cx="42024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到了如今，越来越多方便快捷的交通方式走进了我们的生活。</a:t>
            </a:r>
            <a:endParaRPr lang="zh-CN" altLang="en-US"/>
          </a:p>
          <a:p>
            <a:r>
              <a:rPr lang="zh-CN" altLang="en-US"/>
              <a:t>Nowadays, more and more convenient ways of transportation come into our life.</a:t>
            </a:r>
            <a:endParaRPr lang="zh-CN" altLang="en-US"/>
          </a:p>
        </p:txBody>
      </p:sp>
      <p:pic>
        <p:nvPicPr>
          <p:cNvPr id="4" name="图片 3" descr="1d03445fccf846f5a80291f6bc2a94c8[1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55" y="3228975"/>
            <a:ext cx="5048885" cy="3507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91805" y="735330"/>
            <a:ext cx="298577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共享单车</a:t>
            </a:r>
            <a:endParaRPr lang="zh-CN" altLang="en-US"/>
          </a:p>
          <a:p>
            <a:r>
              <a:rPr lang="zh-CN" altLang="en-US"/>
              <a:t>传统交通工具却不传统的使用方式备受欢迎 。</a:t>
            </a:r>
            <a:endParaRPr lang="zh-CN" altLang="en-US"/>
          </a:p>
          <a:p>
            <a:r>
              <a:rPr lang="zh-CN" altLang="en-US"/>
              <a:t> Sharing a bikeTraditional means of transportation, but not the traditional way of use, are popular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240790" y="4849495"/>
            <a:ext cx="23971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now</a:t>
            </a:r>
            <a:endParaRPr lang="en-US" altLang="zh-CN" sz="72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33350" y="76035"/>
            <a:ext cx="2057396" cy="656616"/>
            <a:chOff x="9867900" y="95085"/>
            <a:chExt cx="2057396" cy="656616"/>
          </a:xfrm>
        </p:grpSpPr>
        <p:sp>
          <p:nvSpPr>
            <p:cNvPr id="11" name="文本框 10"/>
            <p:cNvSpPr txBox="1"/>
            <p:nvPr/>
          </p:nvSpPr>
          <p:spPr>
            <a:xfrm>
              <a:off x="9867900" y="105370"/>
              <a:ext cx="12049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3600" dirty="0">
                  <a:solidFill>
                    <a:schemeClr val="accent5">
                      <a:lumMod val="50000"/>
                    </a:schemeClr>
                  </a:solidFill>
                  <a:latin typeface="Impact" panose="020B0806030902050204" pitchFamily="34" charset="0"/>
                  <a:ea typeface="老報宋" panose="02000000000000000000" pitchFamily="2" charset="-122"/>
                </a:rPr>
                <a:t>PART</a:t>
              </a:r>
              <a:endParaRPr lang="zh-CN" altLang="en-US" sz="3600" dirty="0">
                <a:solidFill>
                  <a:schemeClr val="accent5">
                    <a:lumMod val="50000"/>
                  </a:schemeClr>
                </a:solidFill>
                <a:latin typeface="Impact" panose="020B0806030902050204" pitchFamily="34" charset="0"/>
                <a:ea typeface="老報宋" panose="02000000000000000000" pitchFamily="2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11182350" y="207436"/>
              <a:ext cx="0" cy="430739"/>
            </a:xfrm>
            <a:prstGeom prst="line">
              <a:avLst/>
            </a:prstGeom>
            <a:ln w="571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11244263" y="95085"/>
              <a:ext cx="681033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3600" dirty="0">
                  <a:solidFill>
                    <a:schemeClr val="accent5">
                      <a:lumMod val="50000"/>
                    </a:schemeClr>
                  </a:solidFill>
                  <a:latin typeface="Impact" panose="020B0806030902050204" pitchFamily="34" charset="0"/>
                  <a:ea typeface="老報宋" panose="02000000000000000000" pitchFamily="2" charset="-122"/>
                </a:rPr>
                <a:t>0</a:t>
              </a:r>
              <a:r>
                <a:rPr lang="en-US" sz="3600" dirty="0">
                  <a:solidFill>
                    <a:schemeClr val="accent5">
                      <a:lumMod val="50000"/>
                    </a:schemeClr>
                  </a:solidFill>
                  <a:latin typeface="Impact" panose="020B0806030902050204" pitchFamily="34" charset="0"/>
                  <a:ea typeface="老報宋" panose="02000000000000000000" pitchFamily="2" charset="-122"/>
                </a:rPr>
                <a:t>5</a:t>
              </a:r>
              <a:endParaRPr lang="en-US" sz="3600" dirty="0">
                <a:solidFill>
                  <a:schemeClr val="accent5">
                    <a:lumMod val="50000"/>
                  </a:schemeClr>
                </a:solidFill>
                <a:latin typeface="Impact" panose="020B0806030902050204" pitchFamily="34" charset="0"/>
                <a:ea typeface="老報宋" panose="02000000000000000000" pitchFamily="2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0" y="721360"/>
            <a:ext cx="12192000" cy="6096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745095" y="1271270"/>
            <a:ext cx="4072890" cy="156845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" panose="020B0502040204020203" pitchFamily="34" charset="0"/>
              </a:rPr>
              <a:t>From the horse-drawn carriage to the bicycle to the automobile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" panose="020B0502040204020203" pitchFamily="34" charset="0"/>
              </a:rPr>
              <a:t>.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" panose="020B0502040204020203" pitchFamily="34" charset="0"/>
            </a:endParaRPr>
          </a:p>
          <a:p>
            <a:pPr algn="l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" panose="020B0502040204020203" pitchFamily="34" charset="0"/>
              </a:rPr>
              <a:t>To the present high-speed subway maglev.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" panose="020B0502040204020203" pitchFamily="34" charset="0"/>
            </a:endParaRPr>
          </a:p>
          <a:p>
            <a:pPr algn="l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" panose="020B0502040204020203" pitchFamily="34" charset="0"/>
              </a:rPr>
              <a:t>And what's the future?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" panose="020B0502040204020203" pitchFamily="34" charset="0"/>
            </a:endParaRPr>
          </a:p>
          <a:p>
            <a:pPr algn="l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" panose="020B0502040204020203" pitchFamily="34" charset="0"/>
              </a:rPr>
              <a:t>Whether it is a skycar or an underground train is anyone's gues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" panose="020B0502040204020203" pitchFamily="34" charset="0"/>
              </a:rPr>
              <a:t>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Light" panose="020B0502040204020203" pitchFamily="34" charset="0"/>
              </a:rPr>
              <a:t>.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3" name="图片 2" descr="a5ae4407a5cf4b33903b4861cd472016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45" y="3303270"/>
            <a:ext cx="3354070" cy="3034665"/>
          </a:xfrm>
          <a:prstGeom prst="rect">
            <a:avLst/>
          </a:prstGeom>
        </p:spPr>
      </p:pic>
      <p:pic>
        <p:nvPicPr>
          <p:cNvPr id="2" name="图片 1" descr="3e377c23ccfd44b78303343ecad97eca[1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635" y="721360"/>
            <a:ext cx="4219575" cy="31648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65085" y="3024505"/>
            <a:ext cx="3893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从之前的马车自行车汽车，</a:t>
            </a:r>
            <a:endParaRPr lang="zh-CN" altLang="en-US"/>
          </a:p>
          <a:p>
            <a:r>
              <a:rPr lang="zh-CN" altLang="en-US"/>
              <a:t>到现在的高铁地铁磁悬浮。</a:t>
            </a:r>
            <a:endParaRPr lang="zh-CN" altLang="en-US"/>
          </a:p>
          <a:p>
            <a:r>
              <a:rPr lang="zh-CN" altLang="en-US"/>
              <a:t>而未来会怎样？</a:t>
            </a:r>
            <a:endParaRPr lang="zh-CN" altLang="en-US"/>
          </a:p>
          <a:p>
            <a:r>
              <a:rPr lang="zh-CN" altLang="en-US"/>
              <a:t>是空中飞车还是地下列车谁也说不准。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00470" y="2562225"/>
            <a:ext cx="126936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未来</a:t>
            </a:r>
            <a:endParaRPr lang="zh-CN" altLang="en-US" sz="6600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2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74056" y="1942944"/>
            <a:ext cx="8243888" cy="11988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chemeClr val="accent5">
                    <a:lumMod val="50000"/>
                  </a:schemeClr>
                </a:solidFill>
                <a:latin typeface="中山行书百年纪念版" panose="02010609000101010101" pitchFamily="49" charset="-122"/>
                <a:ea typeface="中山行书百年纪念版" panose="02010609000101010101" pitchFamily="49" charset="-122"/>
              </a:rPr>
              <a:t>感谢观看</a:t>
            </a:r>
            <a:endParaRPr lang="zh-CN" altLang="en-US" sz="7200" dirty="0">
              <a:solidFill>
                <a:schemeClr val="accent5">
                  <a:lumMod val="50000"/>
                </a:schemeClr>
              </a:solidFill>
              <a:latin typeface="中山行书百年纪念版" panose="02010609000101010101" pitchFamily="49" charset="-122"/>
              <a:ea typeface="中山行书百年纪念版" panose="0201060900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32309" y="3451991"/>
            <a:ext cx="7327382" cy="275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</p:bld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1304</Words>
  <Application>WPS 演示</Application>
  <PresentationFormat>宽屏</PresentationFormat>
  <Paragraphs>85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中山行书百年纪念版</vt:lpstr>
      <vt:lpstr>微软雅黑</vt:lpstr>
      <vt:lpstr>Bahnschrift SemiLight</vt:lpstr>
      <vt:lpstr>造字工房力黑（非商用）常规体</vt:lpstr>
      <vt:lpstr>黑体</vt:lpstr>
      <vt:lpstr>Impact</vt:lpstr>
      <vt:lpstr>老報宋</vt:lpstr>
      <vt:lpstr>Calibri</vt:lpstr>
      <vt:lpstr>Arial Black</vt:lpstr>
      <vt:lpstr>等线</vt:lpstr>
      <vt:lpstr>Arial Unicode MS</vt:lpstr>
      <vt:lpstr>等线 Light</vt:lpstr>
      <vt:lpstr>新宋体</vt:lpstr>
      <vt:lpstr>方正姚体</vt:lpstr>
      <vt:lpstr>华文细黑</vt:lpstr>
      <vt:lpstr>华文琥珀</vt:lpstr>
      <vt:lpstr>华文行楷</vt:lpstr>
      <vt:lpstr>华文仿宋</vt:lpstr>
      <vt:lpstr>华文彩云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w'w'w</cp:lastModifiedBy>
  <cp:revision>4</cp:revision>
  <dcterms:created xsi:type="dcterms:W3CDTF">2019-10-22T06:38:10Z</dcterms:created>
  <dcterms:modified xsi:type="dcterms:W3CDTF">2019-10-22T06:40:50Z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